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4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m65769@gmail.com" userId="3fd8365efbd9caa0" providerId="LiveId" clId="{322E1066-5955-4CD0-92E4-7F03E49E8605}"/>
    <pc:docChg chg="custSel addSld delSld modSld sldOrd">
      <pc:chgData name="roym65769@gmail.com" userId="3fd8365efbd9caa0" providerId="LiveId" clId="{322E1066-5955-4CD0-92E4-7F03E49E8605}" dt="2026-07-14T01:27:34.948" v="284" actId="20577"/>
      <pc:docMkLst>
        <pc:docMk/>
      </pc:docMkLst>
      <pc:sldChg chg="del">
        <pc:chgData name="roym65769@gmail.com" userId="3fd8365efbd9caa0" providerId="LiveId" clId="{322E1066-5955-4CD0-92E4-7F03E49E8605}" dt="2026-07-14T01:27:21.285" v="282" actId="47"/>
        <pc:sldMkLst>
          <pc:docMk/>
          <pc:sldMk cId="0" sldId="256"/>
        </pc:sldMkLst>
      </pc:sldChg>
      <pc:sldChg chg="addSp modSp new mod ord">
        <pc:chgData name="roym65769@gmail.com" userId="3fd8365efbd9caa0" providerId="LiveId" clId="{322E1066-5955-4CD0-92E4-7F03E49E8605}" dt="2026-07-14T01:27:34.948" v="284" actId="20577"/>
        <pc:sldMkLst>
          <pc:docMk/>
          <pc:sldMk cId="3954449628" sldId="274"/>
        </pc:sldMkLst>
        <pc:spChg chg="add mod">
          <ac:chgData name="roym65769@gmail.com" userId="3fd8365efbd9caa0" providerId="LiveId" clId="{322E1066-5955-4CD0-92E4-7F03E49E8605}" dt="2026-07-14T01:25:09.316" v="279" actId="1076"/>
          <ac:spMkLst>
            <pc:docMk/>
            <pc:sldMk cId="3954449628" sldId="274"/>
            <ac:spMk id="2" creationId="{7F2A56B8-3C30-4DF7-8E30-65BFDFDD74A0}"/>
          </ac:spMkLst>
        </pc:spChg>
        <pc:spChg chg="add mod">
          <ac:chgData name="roym65769@gmail.com" userId="3fd8365efbd9caa0" providerId="LiveId" clId="{322E1066-5955-4CD0-92E4-7F03E49E8605}" dt="2026-07-14T01:25:11.881" v="280" actId="1076"/>
          <ac:spMkLst>
            <pc:docMk/>
            <pc:sldMk cId="3954449628" sldId="274"/>
            <ac:spMk id="3" creationId="{76559E67-2921-434A-8EC4-4B075147A142}"/>
          </ac:spMkLst>
        </pc:spChg>
        <pc:spChg chg="add mod">
          <ac:chgData name="roym65769@gmail.com" userId="3fd8365efbd9caa0" providerId="LiveId" clId="{322E1066-5955-4CD0-92E4-7F03E49E8605}" dt="2026-07-14T01:22:47.223" v="213" actId="1076"/>
          <ac:spMkLst>
            <pc:docMk/>
            <pc:sldMk cId="3954449628" sldId="274"/>
            <ac:spMk id="4" creationId="{33B9E5D8-9CB9-48DE-BC19-A8BAB92F3067}"/>
          </ac:spMkLst>
        </pc:spChg>
        <pc:spChg chg="add mod">
          <ac:chgData name="roym65769@gmail.com" userId="3fd8365efbd9caa0" providerId="LiveId" clId="{322E1066-5955-4CD0-92E4-7F03E49E8605}" dt="2026-07-14T01:25:34.336" v="281" actId="255"/>
          <ac:spMkLst>
            <pc:docMk/>
            <pc:sldMk cId="3954449628" sldId="274"/>
            <ac:spMk id="5" creationId="{DE0667A3-C416-4298-B48D-DBE8F57BA38B}"/>
          </ac:spMkLst>
        </pc:spChg>
        <pc:spChg chg="add mod">
          <ac:chgData name="roym65769@gmail.com" userId="3fd8365efbd9caa0" providerId="LiveId" clId="{322E1066-5955-4CD0-92E4-7F03E49E8605}" dt="2026-07-14T01:27:34.948" v="284" actId="20577"/>
          <ac:spMkLst>
            <pc:docMk/>
            <pc:sldMk cId="3954449628" sldId="274"/>
            <ac:spMk id="6" creationId="{4D1F9E30-F8E2-4A95-AEE0-E087B024B183}"/>
          </ac:spMkLst>
        </pc:spChg>
        <pc:spChg chg="add mod">
          <ac:chgData name="roym65769@gmail.com" userId="3fd8365efbd9caa0" providerId="LiveId" clId="{322E1066-5955-4CD0-92E4-7F03E49E8605}" dt="2026-07-14T01:23:43.167" v="221" actId="1076"/>
          <ac:spMkLst>
            <pc:docMk/>
            <pc:sldMk cId="3954449628" sldId="274"/>
            <ac:spMk id="7" creationId="{CC4DCD41-94F1-4E9D-81D4-271217880E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76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three core functions: emulate, score, report. This tool is equivalent in concept to Atomic Red Team or Caldera but built from scratch in C++17.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architecture: a YAML playbook is loaded by PlaybookEngine, which uses TechniqueFactory to instantiate the right C++ objects. Each technique runs via the IExecutor interface (local or SSH). Output is scored by DetectionEngine and rendered to HTML by HtmlReporter.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pattern with the actual class. This slide shows OOP concepts applied in a real security engineering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Sentinel-Red covers 6 MITRE ATT&amp;CK tactics and 13+ techniques across Linux and Windows. Each technique card in the playbook maps directly to a MITRE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DetectionEngine is a Singleton that holds 30+ weighted rules. Command strings and output are scored separately then combined. This mimics how a SIEM assigns alert severity.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TUI dashboard redraws in real time using ANSI cursor control — no ncurses required. Each row updates from PENDING → RUNNING → PASS/DETECTED as techniques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command. Emphasize that the --config flag makes repeated testing fast — define target once, run many playbooks.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points for the examiner: real SSH execution, YAML-configurable, 9 technique types across 6 MITRE tactics, detection scoring, HTML report. All from scratch in C++17.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real test results. 10/10 techniques executed successfully. 3 triggers from detection scoring (credential hunting always scores CRITICAL because of /etc/passwd, SSH key paths, and env var checks).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what was built and delivered.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7F2A56B8-3C30-4DF7-8E30-65BFDFDD74A0}"/>
              </a:ext>
            </a:extLst>
          </p:cNvPr>
          <p:cNvSpPr txBox="1"/>
          <p:nvPr/>
        </p:nvSpPr>
        <p:spPr>
          <a:xfrm>
            <a:off x="-225895" y="-689195"/>
            <a:ext cx="89460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algn="ctr">
              <a:spcBef>
                <a:spcPts val="7200"/>
              </a:spcBef>
              <a:spcAft>
                <a:spcPts val="0"/>
              </a:spcAft>
            </a:pPr>
            <a:r>
              <a:rPr lang="en-US" sz="6600" b="1" dirty="0">
                <a:solidFill>
                  <a:srgbClr val="C0392B"/>
                </a:solidFill>
                <a:effectLst/>
                <a:latin typeface="Kalpurush"/>
              </a:rPr>
              <a:t>SENTINEL-RED</a:t>
            </a:r>
            <a:endParaRPr lang="en-US" sz="6600" b="1" dirty="0">
              <a:solidFill>
                <a:srgbClr val="000000"/>
              </a:solidFill>
              <a:effectLst/>
              <a:latin typeface="Kalpurush"/>
            </a:endParaRPr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76559E67-2921-434A-8EC4-4B075147A142}"/>
              </a:ext>
            </a:extLst>
          </p:cNvPr>
          <p:cNvSpPr txBox="1"/>
          <p:nvPr/>
        </p:nvSpPr>
        <p:spPr>
          <a:xfrm>
            <a:off x="942242" y="1096796"/>
            <a:ext cx="717473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1" dirty="0">
                <a:solidFill>
                  <a:srgbClr val="1A1A2E"/>
                </a:solidFill>
                <a:effectLst/>
                <a:latin typeface="Kalpurush"/>
              </a:rPr>
              <a:t>Automated TTP Emulation Engine</a:t>
            </a:r>
            <a:endParaRPr sz="4000" dirty="0"/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33B9E5D8-9CB9-48DE-BC19-A8BAB92F3067}"/>
              </a:ext>
            </a:extLst>
          </p:cNvPr>
          <p:cNvSpPr txBox="1"/>
          <p:nvPr/>
        </p:nvSpPr>
        <p:spPr>
          <a:xfrm>
            <a:off x="4649411" y="2723581"/>
            <a:ext cx="2608246" cy="36437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2800" b="1" dirty="0"/>
              <a:t>Submitted to:</a:t>
            </a:r>
            <a:endParaRPr lang="en-GB" sz="2800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DE0667A3-C416-4298-B48D-DBE8F57BA38B}"/>
              </a:ext>
            </a:extLst>
          </p:cNvPr>
          <p:cNvSpPr txBox="1"/>
          <p:nvPr/>
        </p:nvSpPr>
        <p:spPr>
          <a:xfrm>
            <a:off x="0" y="2632906"/>
            <a:ext cx="5119524" cy="4809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24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Submitted By:</a:t>
            </a:r>
            <a:endParaRPr lang="en-GB" sz="24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4D1F9E30-F8E2-4A95-AEE0-E087B024B183}"/>
              </a:ext>
            </a:extLst>
          </p:cNvPr>
          <p:cNvSpPr txBox="1"/>
          <p:nvPr/>
        </p:nvSpPr>
        <p:spPr>
          <a:xfrm>
            <a:off x="253738" y="3178635"/>
            <a:ext cx="492111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Milton Roy(01)</a:t>
            </a:r>
          </a:p>
          <a:p>
            <a:pPr>
              <a:spcAft>
                <a:spcPts val="600"/>
              </a:spcAft>
            </a:pP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MD.</a:t>
            </a:r>
            <a:r>
              <a:rPr lang="en-US" sz="1800" dirty="0">
                <a:solidFill>
                  <a:srgbClr val="000000"/>
                </a:solidFill>
                <a:effectLst/>
                <a:latin typeface="Kalpurush"/>
              </a:rPr>
              <a:t> </a:t>
            </a:r>
            <a:r>
              <a:rPr lang="en-US" sz="1800" b="1" dirty="0">
                <a:latin typeface="Kalpurush"/>
              </a:rPr>
              <a:t>T</a:t>
            </a:r>
            <a:r>
              <a:rPr lang="en-US" sz="1800" b="1" dirty="0">
                <a:solidFill>
                  <a:srgbClr val="000000"/>
                </a:solidFill>
                <a:effectLst/>
                <a:latin typeface="Kalpurush"/>
              </a:rPr>
              <a:t>amim Sardar</a:t>
            </a:r>
            <a:r>
              <a:rPr lang="en-GB" sz="18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(02)</a:t>
            </a:r>
          </a:p>
          <a:p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Department of Cyber Security Engineering</a:t>
            </a:r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University of Frontier Technology, Bangladesh</a:t>
            </a:r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C4DCD41-94F1-4E9D-81D4-271217880EC7}"/>
              </a:ext>
            </a:extLst>
          </p:cNvPr>
          <p:cNvSpPr txBox="1"/>
          <p:nvPr/>
        </p:nvSpPr>
        <p:spPr>
          <a:xfrm>
            <a:off x="5174853" y="3112942"/>
            <a:ext cx="4070695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spcAft>
                <a:spcPts val="600"/>
              </a:spcAft>
            </a:pPr>
            <a:r>
              <a:rPr lang="en-GB" sz="1800" b="1" dirty="0" err="1">
                <a:solidFill>
                  <a:schemeClr val="tx1"/>
                </a:solidFill>
              </a:rPr>
              <a:t>Md</a:t>
            </a:r>
            <a:r>
              <a:rPr lang="en-GB" sz="1800" b="1" dirty="0">
                <a:solidFill>
                  <a:schemeClr val="tx1"/>
                </a:solidFill>
              </a:rPr>
              <a:t> </a:t>
            </a:r>
            <a:r>
              <a:rPr lang="en-GB" sz="1800" b="1" dirty="0" err="1">
                <a:solidFill>
                  <a:schemeClr val="tx1"/>
                </a:solidFill>
              </a:rPr>
              <a:t>Masud</a:t>
            </a:r>
            <a:r>
              <a:rPr lang="en-GB" sz="1800" b="1" dirty="0">
                <a:solidFill>
                  <a:schemeClr val="tx1"/>
                </a:solidFill>
              </a:rPr>
              <a:t> Rana</a:t>
            </a:r>
          </a:p>
          <a:p>
            <a:r>
              <a:rPr lang="en-GB" sz="1800" dirty="0">
                <a:solidFill>
                  <a:schemeClr val="tx1"/>
                </a:solidFill>
              </a:rPr>
              <a:t>Lecturer,</a:t>
            </a:r>
          </a:p>
          <a:p>
            <a:r>
              <a:rPr lang="en-GB" sz="1800" dirty="0">
                <a:solidFill>
                  <a:schemeClr val="tx1"/>
                </a:solidFill>
              </a:rPr>
              <a:t>Department of Cyber Security Engineering</a:t>
            </a:r>
          </a:p>
          <a:p>
            <a:r>
              <a:rPr lang="en-GB" sz="1800" dirty="0">
                <a:solidFill>
                  <a:schemeClr val="tx1"/>
                </a:solidFill>
              </a:rPr>
              <a:t>University of Frontier Technology, Bangladesh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4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Sentinel-Red?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Emulates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real MITRE ATT&amp;CK techniques over SSH against live targets — Ubuntu Server and Windows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148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DetectionEngine assigns every command a 0–100 risk score with CRITICAL / HIGH / MEDIUM / LOW severity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97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214884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 self-contained dark-theme HTML report with per-technique results, risk badges, and MITRE links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authorized security testing only  —  University Final Project, Cyber Security Engineering, UFTB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3A5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9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Playbook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08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linux_attack.yaml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3D151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69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08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+ orchestrates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E3A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69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TechniqueFactory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408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by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3D2A0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072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0–100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1005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2A1A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069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HtmlReporter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140817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dark-theme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40280" y="1399032"/>
            <a:ext cx="18288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3400" y="1399032"/>
            <a:ext cx="18288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1399032"/>
            <a:ext cx="18288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68112" y="1783080"/>
            <a:ext cx="0" cy="960120"/>
          </a:xfrm>
          <a:prstGeom prst="line">
            <a:avLst/>
          </a:prstGeom>
          <a:noFill/>
          <a:ln w="15240">
            <a:solidFill>
              <a:srgbClr val="718096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77440" y="274320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99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IExecutor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1272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LocalExecutor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14600" y="336499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RemoteSSHExecutor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4600" y="360273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TargetConfig (YAML)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64992" y="1783080"/>
            <a:ext cx="0" cy="960120"/>
          </a:xfrm>
          <a:prstGeom prst="line">
            <a:avLst/>
          </a:prstGeom>
          <a:noFill/>
          <a:ln w="15240">
            <a:solidFill>
              <a:srgbClr val="718096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8072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Technique Types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312724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shell_command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20840" y="334670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privesc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20840" y="35661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persistence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20840" y="378561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credential_access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20840" y="400507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lateral_movement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Patterns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1A3A5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179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Pattern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TechniqueFactory.cpp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764792"/>
            <a:ext cx="38404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Maps YAML type strings to C++ constructors at startup via static registrar. New technique types added without touching engine code.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1E3A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179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Pattern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508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IExecutor interface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19472" y="1764792"/>
            <a:ext cx="38404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LocalExecutor and RemoteSSHExecutor are swapped at runtime. Engine code calls IExecutor::executeCommand() — never cares if it's local or SSH.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3D2A0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Singleton Pattern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DetectionEngine.cpp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3685032"/>
            <a:ext cx="38404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shared detection rule database loaded once. All technique classes call DetectionEngine::instance().score() without managing the object.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60520" cy="1691640"/>
          </a:xfrm>
          <a:prstGeom prst="roundRect">
            <a:avLst>
              <a:gd name="adj" fmla="val 4324"/>
            </a:avLst>
          </a:prstGeom>
          <a:solidFill>
            <a:srgbClr val="2A1A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0998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Method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ITechnique interface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3685032"/>
            <a:ext cx="38404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getScore() / getSeverity() in ITechnique base. Subclasses optionally override — Shell and new technique types populate, simpler ones inherit the default.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MITRE ATT&amp;CK Technique Coverage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9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Reconnaissance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T1082 — System Info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T1016 — Network Config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21396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T1049 — Active Connections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3268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93268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969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64408" y="133502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T1057 — Process Discovery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T1087 — Account Discovery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213969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T1083 — File &amp; Dir Discovery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93268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93268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969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Access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44768" y="133502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T1552 — Unsecured Creds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44768" y="173736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T1555 — Credentials in 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9864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89864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935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 Escalation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330098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T1548 — Abuse Elevation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37033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T1068 — Exploitation for PrivEsc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289864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289864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2935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64408" y="330098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T1547 — Boot/Logon Autostart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64408" y="37033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T1053 — Scheduled Tasks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898648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2898648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352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Lateral Movement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44768" y="330098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T1021 — Remote Services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44768" y="370332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T1563 — Remote Session Hijacking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Engine — Weighted Scoring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92024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 executes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shell command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file operation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1984248"/>
            <a:ext cx="22860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8880" y="9144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Match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78608" y="192024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weighted rules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command string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output 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1984248"/>
            <a:ext cx="22860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9144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0–100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192024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Weights summed,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capped at 100,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cmd+output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37960" y="1984248"/>
            <a:ext cx="228600" cy="0"/>
          </a:xfrm>
          <a:prstGeom prst="line">
            <a:avLst/>
          </a:prstGeom>
          <a:noFill/>
          <a:ln w="19050">
            <a:solidFill>
              <a:srgbClr val="E53E3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91440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241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76288" y="1920240"/>
            <a:ext cx="1700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/ HIGH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/ LOW / INFO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threshold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85039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101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 Thresholds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1965960" cy="219456"/>
          </a:xfrm>
          <a:prstGeom prst="roundRect">
            <a:avLst>
              <a:gd name="adj" fmla="val 16667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 80–100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89534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mimikatz · /dev/tcp reverse shell · base64-encoded powershell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78608" y="3639312"/>
            <a:ext cx="1965960" cy="219456"/>
          </a:xfrm>
          <a:prstGeom prst="roundRect">
            <a:avLst>
              <a:gd name="adj" fmla="val 16667"/>
            </a:avLst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78608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     60–79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78608" y="389534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SSH private key access · shadow file read · SUID chmod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0016" y="3639312"/>
            <a:ext cx="1965960" cy="219456"/>
          </a:xfrm>
          <a:prstGeom prst="roundRect">
            <a:avLst>
              <a:gd name="adj" fmla="val 16667"/>
            </a:avLst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   40–59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0016" y="389534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wget/curl downloads · inline Python/Perl · nmap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21424" y="3639312"/>
            <a:ext cx="1965960" cy="219456"/>
          </a:xfrm>
          <a:prstGeom prst="roundRect">
            <a:avLst>
              <a:gd name="adj" fmla="val 16667"/>
            </a:avLst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63931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      20–39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21424" y="3895344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usage · passwd file · switch user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TUI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977640"/>
          </a:xfrm>
          <a:prstGeom prst="roundRect">
            <a:avLst>
              <a:gd name="adj" fmla="val 183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932688"/>
            <a:ext cx="118872" cy="118872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932688"/>
            <a:ext cx="118872" cy="11887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8136" y="932688"/>
            <a:ext cx="118872" cy="118872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905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sentinel-red — bash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29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╔══════════════════════════════════════════════════════════╗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40817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29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║        SENTINEL-RED  ●  TTP EMULATION ENGINE            ║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299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╚══════════════════════════════════════════════════════════╝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Playbook : Advanced Attack Chain      Target: 192.168.56.103 (linux)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┌─────────────────────────────┬──────────┬────────────┬────────────┬──────────┐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221284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Technique                   │ MITRE ID │ Status     │ Risk Score │ Severity │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241401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├─────────────────────────────┼──────────┼────────────┼────────────┼──────────┤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261518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Initial System Enumeration   │ T1082    │ ✔ PASS     │  7/100 ░   │ INFO     │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281635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Credential Hunting           │ T1552    │ ⚠ DETECTED │ 100/100 ██ │ CRITICAL 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Privilege Escalation Check   │ T1548    │ ✔ PASS     │ 20/100 ██  │ LOW      │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2920" y="321868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Persistence: Cron            │ T1547    │ ⚠ DETECTED │ 82/100 ████│ CRITICAL │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02920" y="341985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9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SSH Key Enumeration          │ T1552    │ ⚠ DETECTED │ 60/100 ███ │ HIGH     │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Lateral Movement Recon       │ T1021    │ ✔ PASS     │ 35/100 ███ │ LOW      │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└─────────────────────────────┴──────────┴────────────┴────────────┴──────────┘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Build on Kali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5272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930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build &amp;&amp; cd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cmake --build . -j4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Attack Ubuntu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4942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./build/src/sentinel-red playbooks/advanced_attack.yaml\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192.168.56.103 tamim tamim12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Attack Windows (OpenSSH)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7296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954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./build/src/sentinel-red playbooks/windows_advanced.yaml\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192.168.0.201 anonymous 1234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Use a Config File (no re-typing)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3308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966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./build/src/sentinel-red playbooks/advanced_attack.yaml\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--config configs/ubuntu_example.yaml report.html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33272" y="1069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SSH Execution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138074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libssh2-powered remote execution with SFTP upload/download. Password auth + key auth ready.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68112" y="10698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Playbooks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68112" y="138074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Campaign config is a simple YAML file. Add/remove/reorder techniques without recompiling.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33272" y="2395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Technique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" y="270662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shell_command, file_modification, network_scan, process_enum, user_enum, privesc, persistence, lateral_movement, credential_access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95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68112" y="23957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Config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68112" y="270662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host/user/pass in YAML. Use --config flag instead of retyping credentials every run.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33272" y="3721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" y="403250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30+ weighted rules produce a 0–100 risk score per technique. CRITICAL/HIGH/MEDIUM/LOW/INFO tiers.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21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68112" y="3721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403250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Self-contained dark-theme report with per-technique results, MITRE links, and risk score badges.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8A169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10/10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Techniques Passed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9E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6642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Detected (MEDIUM+)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E3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09160" y="16642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Risk Score (Cred. Hunting)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299E1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16642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 (Ubuntu + Windows)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2331720"/>
          </a:xfrm>
          <a:prstGeom prst="roundRect">
            <a:avLst>
              <a:gd name="adj" fmla="val 31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Attack Chain — Linux Results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 Hunting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83464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T1552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86200" y="29077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DETECTED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8348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100/100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2907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218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Persistence: Cron Check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34640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T1547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86200" y="32186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DETECTED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83480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82/100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89320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SSH Key Enumeration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3464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T1552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86200" y="35295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DETECTED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8348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60/100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89320" y="3529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Privilege Escalation Check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3464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T1548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8620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PASS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8348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20/100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8932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4151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System Enum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83464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T1082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86200" y="4151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PASS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8348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7/100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89320" y="4151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57200" y="44622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Lateral Movement Recon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834640" y="4462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T1021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86200" y="4462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PASS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83480" y="4462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35/100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9320" y="44622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"/>
          <p:cNvSpPr/>
          <p:nvPr/>
        </p:nvSpPr>
        <p:spPr>
          <a:xfrm>
            <a:off x="-457200" y="3200400"/>
            <a:ext cx="100584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" name="Text"/>
          <p:cNvSpPr/>
          <p:nvPr/>
        </p:nvSpPr>
        <p:spPr>
          <a:xfrm>
            <a:off x="365760" y="1750000"/>
            <a:ext cx="8412480" cy="7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3600" dirty="0"/>
          </a:p>
        </p:txBody>
      </p:sp>
      <p:sp>
        <p:nvSpPr>
          <p:cNvPr id="5" name="Text"/>
          <p:cNvSpPr/>
          <p:nvPr/>
        </p:nvSpPr>
        <p:spPr>
          <a:xfrm>
            <a:off x="365760" y="2600000"/>
            <a:ext cx="841248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Walkthrough — OOP Design in Sentinel-Red</a:t>
            </a:r>
            <a:endParaRPr lang="en-US" sz="2000" dirty="0"/>
          </a:p>
        </p:txBody>
      </p:sp>
      <p:sp>
        <p:nvSpPr>
          <p:cNvPr id="6" name="Text"/>
          <p:cNvSpPr/>
          <p:nvPr/>
        </p:nvSpPr>
        <p:spPr>
          <a:xfrm>
            <a:off x="365760" y="3450000"/>
            <a:ext cx="841248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 · Inheritance · Polymorphism · Abstraction · Constructors/Destructors · Friend · Operator Overloading · Templates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 &amp; Abstraction</a:t>
            </a:r>
            <a:endParaRPr lang="en-US" sz="2600" dirty="0"/>
          </a:p>
        </p:txBody>
      </p:sp>
      <p:sp>
        <p:nvSpPr>
          <p:cNvPr id="9" name="Shape"/>
          <p:cNvSpPr/>
          <p:nvPr/>
        </p:nvSpPr>
        <p:spPr>
          <a:xfrm>
            <a:off x="32004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1A3A5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"/>
          <p:cNvSpPr/>
          <p:nvPr/>
        </p:nvSpPr>
        <p:spPr>
          <a:xfrm>
            <a:off x="48463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11" name="Text"/>
          <p:cNvSpPr/>
          <p:nvPr/>
        </p:nvSpPr>
        <p:spPr>
          <a:xfrm>
            <a:off x="48463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ITechnique.h — every concrete technique</a:t>
            </a:r>
            <a:endParaRPr lang="en-US" sz="950" dirty="0"/>
          </a:p>
        </p:txBody>
      </p:sp>
      <p:sp>
        <p:nvSpPr>
          <p:cNvPr id="12" name="Text"/>
          <p:cNvSpPr/>
          <p:nvPr/>
        </p:nvSpPr>
        <p:spPr>
          <a:xfrm>
            <a:off x="484632" y="1764792"/>
            <a:ext cx="3832520" cy="260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state (m_name, m_mitreId, m_result, m_detected) is always private. The only way in or out is through getName(), setResult(), isDetected() — callers can never corrupt a technique's state directly.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475488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1E3A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"/>
          <p:cNvSpPr/>
          <p:nvPr/>
        </p:nvSpPr>
        <p:spPr>
          <a:xfrm>
            <a:off x="491947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 / Interface</a:t>
            </a:r>
            <a:endParaRPr lang="en-US" sz="1400" dirty="0"/>
          </a:p>
        </p:txBody>
      </p:sp>
      <p:sp>
        <p:nvSpPr>
          <p:cNvPr id="15" name="Text"/>
          <p:cNvSpPr/>
          <p:nvPr/>
        </p:nvSpPr>
        <p:spPr>
          <a:xfrm>
            <a:off x="491947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ITechnique.h — pure virtual base</a:t>
            </a:r>
            <a:endParaRPr lang="en-US" sz="950" dirty="0"/>
          </a:p>
        </p:txBody>
      </p:sp>
      <p:sp>
        <p:nvSpPr>
          <p:cNvPr id="16" name="Text"/>
          <p:cNvSpPr/>
          <p:nvPr/>
        </p:nvSpPr>
        <p:spPr>
          <a:xfrm>
            <a:off x="4919472" y="1764792"/>
            <a:ext cx="3832520" cy="260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ITechnique declares execute(), cleanup(), getName() and friends as pure virtuals (= 0). It defines WHAT every technique must do and hides HOW — PlaybookEngine never sees a concrete class.</a:t>
            </a:r>
            <a:endParaRPr lang="en-US" sz="1050" dirty="0"/>
          </a:p>
        </p:txBody>
      </p:sp>
      <p:sp>
        <p:nvSpPr>
          <p:cNvPr id="17" name="Text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ITechnique { virtual bool execute(IExecutor&amp;) = 0; ... };  —  private: std::string m_name, m_mitreId, m_result; bool m_detected;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 &amp; Polymorphism</a:t>
            </a:r>
            <a:endParaRPr lang="en-US" sz="2600" dirty="0"/>
          </a:p>
        </p:txBody>
      </p:sp>
      <p:sp>
        <p:nvSpPr>
          <p:cNvPr id="20" name="Shape"/>
          <p:cNvSpPr/>
          <p:nvPr/>
        </p:nvSpPr>
        <p:spPr>
          <a:xfrm>
            <a:off x="32004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1A3A5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"/>
          <p:cNvSpPr/>
          <p:nvPr/>
        </p:nvSpPr>
        <p:spPr>
          <a:xfrm>
            <a:off x="48463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22" name="Text"/>
          <p:cNvSpPr/>
          <p:nvPr/>
        </p:nvSpPr>
        <p:spPr>
          <a:xfrm>
            <a:off x="48463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ShellTechnique.h / 4 sibling classes</a:t>
            </a:r>
            <a:endParaRPr lang="en-US" sz="950" dirty="0"/>
          </a:p>
        </p:txBody>
      </p:sp>
      <p:sp>
        <p:nvSpPr>
          <p:cNvPr id="23" name="Text"/>
          <p:cNvSpPr/>
          <p:nvPr/>
        </p:nvSpPr>
        <p:spPr>
          <a:xfrm>
            <a:off x="484632" y="1764792"/>
            <a:ext cx="3832520" cy="260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ShellTechnique, FileModificationTechnique, NetworkScanTechnique, ProcessEnumTechnique and UserEnumTechnique all inherit publicly from ITechnique, reusing one contract while each supplies its own execute().</a:t>
            </a:r>
            <a:endParaRPr lang="en-US" sz="1050" dirty="0"/>
          </a:p>
        </p:txBody>
      </p:sp>
      <p:sp>
        <p:nvSpPr>
          <p:cNvPr id="24" name="Shape"/>
          <p:cNvSpPr/>
          <p:nvPr/>
        </p:nvSpPr>
        <p:spPr>
          <a:xfrm>
            <a:off x="475488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1E3A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"/>
          <p:cNvSpPr/>
          <p:nvPr/>
        </p:nvSpPr>
        <p:spPr>
          <a:xfrm>
            <a:off x="491947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6" name="Text"/>
          <p:cNvSpPr/>
          <p:nvPr/>
        </p:nvSpPr>
        <p:spPr>
          <a:xfrm>
            <a:off x="491947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PlaybookEngine.cpp — executeCampaign()</a:t>
            </a:r>
            <a:endParaRPr lang="en-US" sz="950" dirty="0"/>
          </a:p>
        </p:txBody>
      </p:sp>
      <p:sp>
        <p:nvSpPr>
          <p:cNvPr id="27" name="Text"/>
          <p:cNvSpPr/>
          <p:nvPr/>
        </p:nvSpPr>
        <p:spPr>
          <a:xfrm>
            <a:off x="4919472" y="1764792"/>
            <a:ext cx="3832520" cy="260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m_techniques is a vector&lt;unique_ptr&lt;ITechnique&gt;&gt;. The engine calls tech-&gt;execute(*m_executor) through the base pointer — the correct override runs at runtime, with zero type-checking if/else chains.</a:t>
            </a:r>
            <a:endParaRPr lang="en-US" sz="1050" dirty="0"/>
          </a:p>
        </p:txBody>
      </p:sp>
      <p:sp>
        <p:nvSpPr>
          <p:cNvPr id="28" name="Text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ShellTechnique : public ITechnique { ... };   for (auto&amp; tech : m_techniques) tech-&gt;execute(*m_executor);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0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 &amp; Destructor — RAII</a:t>
            </a:r>
            <a:endParaRPr lang="en-US" sz="2600" dirty="0"/>
          </a:p>
        </p:txBody>
      </p:sp>
      <p:sp>
        <p:nvSpPr>
          <p:cNvPr id="31" name="Text"/>
          <p:cNvSpPr/>
          <p:nvPr/>
        </p:nvSpPr>
        <p:spPr>
          <a:xfrm>
            <a:off x="411480" y="960120"/>
            <a:ext cx="4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RemoteSSHExecutor.h / .cpp</a:t>
            </a:r>
            <a:endParaRPr lang="en-US" sz="1100" dirty="0"/>
          </a:p>
        </p:txBody>
      </p:sp>
      <p:sp>
        <p:nvSpPr>
          <p:cNvPr id="32" name="Shape"/>
          <p:cNvSpPr/>
          <p:nvPr/>
        </p:nvSpPr>
        <p:spPr>
          <a:xfrm>
            <a:off x="411480" y="1252728"/>
            <a:ext cx="8321040" cy="2050000"/>
          </a:xfrm>
          <a:prstGeom prst="roundRect">
            <a:avLst>
              <a:gd name="adj" fmla="val 6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Code"/>
          <p:cNvSpPr/>
          <p:nvPr/>
        </p:nvSpPr>
        <p:spPr>
          <a:xfrm>
            <a:off x="548640" y="1344168"/>
            <a:ext cx="8046720" cy="186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RemoteSSHExecutor::RemoteSSHExecutor(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std::string&amp; host, const std::string&amp; user,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std::string&amp; pass, int port)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m_host(host), m_user(user), m_pass(pass), m_port(port)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(libssh2_init(0) !=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std::cerr &lt;&lt; "[SSH] libssh2_init failed\n";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3B3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RemoteSSHExecutor::~RemoteSSHExecutor()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r>
              <a:rPr lang="en-US" sz="10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10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libssh2_exit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}</a:t>
            </a:r>
            <a:endParaRPr lang="en-US" sz="1000" dirty="0"/>
          </a:p>
        </p:txBody>
      </p:sp>
      <p:sp>
        <p:nvSpPr>
          <p:cNvPr id="35" name="Text"/>
          <p:cNvSpPr/>
          <p:nvPr/>
        </p:nvSpPr>
        <p:spPr>
          <a:xfrm>
            <a:off x="411480" y="3450000"/>
            <a:ext cx="8321040" cy="1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constructor opens the connection resource (libssh2_init); the destructor guarantees </a:t>
            </a:r>
            <a:r>
              <a:rPr lang="en-US" sz="1050" dirty="0">
                <a:solidFill>
                  <a:srgbClr val="38A1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disconnect() and libssh2_exit()</a:t>
            </a: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automatically the moment a RemoteSSHExecutor goes out of scope — even if a technique fails midway. Classic RAII: acquire in the constructor, release in the destructor.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 Function &amp; Operator Overloading</a:t>
            </a:r>
            <a:endParaRPr lang="en-US" sz="2600" dirty="0"/>
          </a:p>
        </p:txBody>
      </p:sp>
      <p:sp>
        <p:nvSpPr>
          <p:cNvPr id="38" name="Shape"/>
          <p:cNvSpPr/>
          <p:nvPr/>
        </p:nvSpPr>
        <p:spPr>
          <a:xfrm>
            <a:off x="32004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2A1A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"/>
          <p:cNvSpPr/>
          <p:nvPr/>
        </p:nvSpPr>
        <p:spPr>
          <a:xfrm>
            <a:off x="48463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 Function &amp; Class</a:t>
            </a:r>
            <a:endParaRPr lang="en-US" sz="1350" dirty="0"/>
          </a:p>
        </p:txBody>
      </p:sp>
      <p:sp>
        <p:nvSpPr>
          <p:cNvPr id="40" name="Text"/>
          <p:cNvSpPr/>
          <p:nvPr/>
        </p:nvSpPr>
        <p:spPr>
          <a:xfrm>
            <a:off x="48463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spotlight</a:t>
            </a:r>
            <a:endParaRPr lang="en-US" sz="950" dirty="0"/>
          </a:p>
        </p:txBody>
      </p:sp>
      <p:sp>
        <p:nvSpPr>
          <p:cNvPr id="41" name="Shape"/>
          <p:cNvSpPr/>
          <p:nvPr/>
        </p:nvSpPr>
        <p:spPr>
          <a:xfrm>
            <a:off x="440040" y="1791560"/>
            <a:ext cx="3920520" cy="1150000"/>
          </a:xfrm>
          <a:prstGeom prst="roundRect">
            <a:avLst>
              <a:gd name="adj" fmla="val 6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Code"/>
          <p:cNvSpPr/>
          <p:nvPr/>
        </p:nvSpPr>
        <p:spPr>
          <a:xfrm>
            <a:off x="577200" y="1883000"/>
            <a:ext cx="3646200" cy="96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ITechnique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 class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PlaybookEngine;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m_detected;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44" name="Text"/>
          <p:cNvSpPr/>
          <p:nvPr/>
        </p:nvSpPr>
        <p:spPr>
          <a:xfrm>
            <a:off x="484632" y="3101560"/>
            <a:ext cx="3832520" cy="12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friend class reaches private members without a public setter for every field — useful when exactly one tightly-coupled class (the engine) needs direct access.</a:t>
            </a:r>
            <a:endParaRPr lang="en-US" sz="1000" dirty="0"/>
          </a:p>
        </p:txBody>
      </p:sp>
      <p:sp>
        <p:nvSpPr>
          <p:cNvPr id="45" name="Shape"/>
          <p:cNvSpPr/>
          <p:nvPr/>
        </p:nvSpPr>
        <p:spPr>
          <a:xfrm>
            <a:off x="4754880" y="1051560"/>
            <a:ext cx="4160520" cy="3400000"/>
          </a:xfrm>
          <a:prstGeom prst="roundRect">
            <a:avLst>
              <a:gd name="adj" fmla="val 4324"/>
            </a:avLst>
          </a:prstGeom>
          <a:solidFill>
            <a:srgbClr val="9B2C2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6" name="Text"/>
          <p:cNvSpPr/>
          <p:nvPr/>
        </p:nvSpPr>
        <p:spPr>
          <a:xfrm>
            <a:off x="4919472" y="1179576"/>
            <a:ext cx="3832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Overloading</a:t>
            </a:r>
            <a:endParaRPr lang="en-US" sz="1350" dirty="0"/>
          </a:p>
        </p:txBody>
      </p:sp>
      <p:sp>
        <p:nvSpPr>
          <p:cNvPr id="47" name="Text"/>
          <p:cNvSpPr/>
          <p:nvPr/>
        </p:nvSpPr>
        <p:spPr>
          <a:xfrm>
            <a:off x="4919472" y="1508760"/>
            <a:ext cx="3832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spotlight</a:t>
            </a:r>
            <a:endParaRPr lang="en-US" sz="950" dirty="0"/>
          </a:p>
        </p:txBody>
      </p:sp>
      <p:sp>
        <p:nvSpPr>
          <p:cNvPr id="48" name="Shape"/>
          <p:cNvSpPr/>
          <p:nvPr/>
        </p:nvSpPr>
        <p:spPr>
          <a:xfrm>
            <a:off x="4874880" y="1791560"/>
            <a:ext cx="3920520" cy="950000"/>
          </a:xfrm>
          <a:prstGeom prst="roundRect">
            <a:avLst>
              <a:gd name="adj" fmla="val 6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Code"/>
          <p:cNvSpPr/>
          <p:nvPr/>
        </p:nvSpPr>
        <p:spPr>
          <a:xfrm>
            <a:off x="5012040" y="1883000"/>
            <a:ext cx="3646200" cy="76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</a:t>
            </a:r>
            <a:r>
              <a:rPr lang="en-US" sz="9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operator==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(const ITechnique&amp; a,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const ITechnique&amp; b)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a.getMitreId() == b.getMitreId();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1" name="Text"/>
          <p:cNvSpPr/>
          <p:nvPr/>
        </p:nvSpPr>
        <p:spPr>
          <a:xfrm>
            <a:off x="4919472" y="2901560"/>
            <a:ext cx="3832520" cy="1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Overloading == lets two techniques be compared with plain syntax (a == b) instead of a named helper — matching how built-in types already behave.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3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</a:t>
            </a:r>
            <a:endParaRPr lang="en-US" sz="2600" dirty="0"/>
          </a:p>
        </p:txBody>
      </p:sp>
      <p:sp>
        <p:nvSpPr>
          <p:cNvPr id="54" name="Text"/>
          <p:cNvSpPr/>
          <p:nvPr/>
        </p:nvSpPr>
        <p:spPr>
          <a:xfrm>
            <a:off x="411480" y="960120"/>
            <a:ext cx="60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spotlight — one implementation, many types</a:t>
            </a:r>
            <a:endParaRPr lang="en-US" sz="1100" dirty="0"/>
          </a:p>
        </p:txBody>
      </p:sp>
      <p:sp>
        <p:nvSpPr>
          <p:cNvPr id="55" name="Shape"/>
          <p:cNvSpPr/>
          <p:nvPr/>
        </p:nvSpPr>
        <p:spPr>
          <a:xfrm>
            <a:off x="411480" y="1252728"/>
            <a:ext cx="8321040" cy="2550000"/>
          </a:xfrm>
          <a:prstGeom prst="roundRect">
            <a:avLst>
              <a:gd name="adj" fmla="val 600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7" name="Code"/>
          <p:cNvSpPr/>
          <p:nvPr/>
        </p:nvSpPr>
        <p:spPr>
          <a:xfrm>
            <a:off x="548640" y="1344168"/>
            <a:ext cx="8046720" cy="236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&lt;typename 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79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ParamValue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explicit ParamValue(T v) : m_value(std::move(v))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get() const { return m_value;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6AD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m_value;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ParamValue&lt;std::string&gt; host(</a:t>
            </a:r>
            <a:r>
              <a:rPr lang="en-US" sz="100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"192.168.56.101"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ParamValue&lt;int&gt; port(22);</a:t>
            </a:r>
            <a:endParaRPr lang="en-US" sz="1000" dirty="0"/>
          </a:p>
        </p:txBody>
      </p:sp>
      <p:sp>
        <p:nvSpPr>
          <p:cNvPr id="58" name="Text"/>
          <p:cNvSpPr/>
          <p:nvPr/>
        </p:nvSpPr>
        <p:spPr>
          <a:xfrm>
            <a:off x="411480" y="4000000"/>
            <a:ext cx="832104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template writes the storage-and-getter logic once; the compiler generates a ParamValue&lt;std::string&gt; and a ParamValue&lt;int&gt; from the same source, with no duplicated code and no loss of type safety.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0" name="Text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Concepts — Where They Live</a:t>
            </a:r>
            <a:endParaRPr lang="en-US" sz="2600" dirty="0"/>
          </a:p>
        </p:txBody>
      </p:sp>
      <p:sp>
        <p:nvSpPr>
          <p:cNvPr id="61" name="Shape"/>
          <p:cNvSpPr/>
          <p:nvPr/>
        </p:nvSpPr>
        <p:spPr>
          <a:xfrm>
            <a:off x="411480" y="100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"/>
          <p:cNvSpPr/>
          <p:nvPr/>
        </p:nvSpPr>
        <p:spPr>
          <a:xfrm>
            <a:off x="548640" y="103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63" name="Text"/>
          <p:cNvSpPr/>
          <p:nvPr/>
        </p:nvSpPr>
        <p:spPr>
          <a:xfrm>
            <a:off x="3250000" y="103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state in every *Technique class, reached only via getters/setters</a:t>
            </a:r>
            <a:endParaRPr lang="en-US" sz="1000" dirty="0"/>
          </a:p>
        </p:txBody>
      </p:sp>
      <p:sp>
        <p:nvSpPr>
          <p:cNvPr id="64" name="Shape"/>
          <p:cNvSpPr/>
          <p:nvPr/>
        </p:nvSpPr>
        <p:spPr>
          <a:xfrm>
            <a:off x="411480" y="162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5" name="Text"/>
          <p:cNvSpPr/>
          <p:nvPr/>
        </p:nvSpPr>
        <p:spPr>
          <a:xfrm>
            <a:off x="548640" y="165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Abstraction / Interface</a:t>
            </a:r>
            <a:endParaRPr lang="en-US" sz="1100" dirty="0"/>
          </a:p>
        </p:txBody>
      </p:sp>
      <p:sp>
        <p:nvSpPr>
          <p:cNvPr id="66" name="Text"/>
          <p:cNvSpPr/>
          <p:nvPr/>
        </p:nvSpPr>
        <p:spPr>
          <a:xfrm>
            <a:off x="3250000" y="165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ITechnique, IExecutor, IReporter — pure virtual contracts</a:t>
            </a:r>
            <a:endParaRPr lang="en-US" sz="1000" dirty="0"/>
          </a:p>
        </p:txBody>
      </p:sp>
      <p:sp>
        <p:nvSpPr>
          <p:cNvPr id="67" name="Shape"/>
          <p:cNvSpPr/>
          <p:nvPr/>
        </p:nvSpPr>
        <p:spPr>
          <a:xfrm>
            <a:off x="411480" y="224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"/>
          <p:cNvSpPr/>
          <p:nvPr/>
        </p:nvSpPr>
        <p:spPr>
          <a:xfrm>
            <a:off x="548640" y="227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69" name="Text"/>
          <p:cNvSpPr/>
          <p:nvPr/>
        </p:nvSpPr>
        <p:spPr>
          <a:xfrm>
            <a:off x="3250000" y="227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technique classes extend ITechnique; 2 executors extend IExecutor</a:t>
            </a:r>
            <a:endParaRPr lang="en-US" sz="1000" dirty="0"/>
          </a:p>
        </p:txBody>
      </p:sp>
      <p:sp>
        <p:nvSpPr>
          <p:cNvPr id="70" name="Shape"/>
          <p:cNvSpPr/>
          <p:nvPr/>
        </p:nvSpPr>
        <p:spPr>
          <a:xfrm>
            <a:off x="411480" y="286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1" name="Text"/>
          <p:cNvSpPr/>
          <p:nvPr/>
        </p:nvSpPr>
        <p:spPr>
          <a:xfrm>
            <a:off x="548640" y="289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72" name="Text"/>
          <p:cNvSpPr/>
          <p:nvPr/>
        </p:nvSpPr>
        <p:spPr>
          <a:xfrm>
            <a:off x="3250000" y="289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PlaybookEngine dispatches through base-class pointers at runtime</a:t>
            </a:r>
            <a:endParaRPr lang="en-US" sz="1000" dirty="0"/>
          </a:p>
        </p:txBody>
      </p:sp>
      <p:sp>
        <p:nvSpPr>
          <p:cNvPr id="73" name="Shape"/>
          <p:cNvSpPr/>
          <p:nvPr/>
        </p:nvSpPr>
        <p:spPr>
          <a:xfrm>
            <a:off x="411480" y="348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"/>
          <p:cNvSpPr/>
          <p:nvPr/>
        </p:nvSpPr>
        <p:spPr>
          <a:xfrm>
            <a:off x="548640" y="351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 / Destructor</a:t>
            </a:r>
            <a:endParaRPr lang="en-US" sz="1100" dirty="0"/>
          </a:p>
        </p:txBody>
      </p:sp>
      <p:sp>
        <p:nvSpPr>
          <p:cNvPr id="75" name="Text"/>
          <p:cNvSpPr/>
          <p:nvPr/>
        </p:nvSpPr>
        <p:spPr>
          <a:xfrm>
            <a:off x="3250000" y="351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RemoteSSHExecutor — RAII around the libssh2 session</a:t>
            </a:r>
            <a:endParaRPr lang="en-US" sz="1000" dirty="0"/>
          </a:p>
        </p:txBody>
      </p:sp>
      <p:sp>
        <p:nvSpPr>
          <p:cNvPr id="76" name="Shape"/>
          <p:cNvSpPr/>
          <p:nvPr/>
        </p:nvSpPr>
        <p:spPr>
          <a:xfrm>
            <a:off x="411480" y="4100000"/>
            <a:ext cx="8321040" cy="580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7" name="Text"/>
          <p:cNvSpPr/>
          <p:nvPr/>
        </p:nvSpPr>
        <p:spPr>
          <a:xfrm>
            <a:off x="548640" y="4130000"/>
            <a:ext cx="260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Friend, Operator Overload, Templates</a:t>
            </a:r>
            <a:endParaRPr lang="en-US" sz="1100" dirty="0"/>
          </a:p>
        </p:txBody>
      </p:sp>
      <p:sp>
        <p:nvSpPr>
          <p:cNvPr id="78" name="Text"/>
          <p:cNvSpPr/>
          <p:nvPr/>
        </p:nvSpPr>
        <p:spPr>
          <a:xfrm>
            <a:off x="3250000" y="4130000"/>
            <a:ext cx="5350000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spotlights — patterns the design could extend into next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E53E3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SENTINEL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RED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31720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258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from scratch in C++17 — no frameworks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734056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6090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MITRE ATT&amp;CK technique types across 6 tactics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36392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0632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SSH execution via libssh2 — Linux &amp; Windows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538728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557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DetectionEngine with CRITICAL/HIGH/MEDIUM/LOW scoring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41064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86791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TUI dashboard + dark-theme HTML report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09728" cy="109728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27024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YAML playbooks + target config files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—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2075</Words>
  <Application>Microsoft Office PowerPoint</Application>
  <PresentationFormat>On-screen Show (16:9)</PresentationFormat>
  <Paragraphs>302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Kalpurush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roym65769@gmail.com</cp:lastModifiedBy>
  <cp:revision>1</cp:revision>
  <dcterms:created xsi:type="dcterms:W3CDTF">2026-07-13T08:36:05Z</dcterms:created>
  <dcterms:modified xsi:type="dcterms:W3CDTF">2026-07-14T01:28:14Z</dcterms:modified>
</cp:coreProperties>
</file>